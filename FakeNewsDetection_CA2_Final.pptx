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64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ak000@chowgules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vrs000@chowgules.ac.in" TargetMode="External"/><Relationship Id="rId4" Type="http://schemas.openxmlformats.org/officeDocument/2006/relationships/hyperlink" Target="mailto:jed001@chowgules.ac.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 Kocharekar |  Joshua D’Costa | Vedant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Sarmalkar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2302012|  |  2302066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IDs: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aak000@chowgules.ac.in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jed001@chowgules.ac.in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vrs000@chowgules.ac.in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>
              <a:solidFill>
                <a:srgbClr val="CBD5E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|  TYBSc Computer Science  | 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CES's Parvatibai Chowgule College of Arts and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Problem Statement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28600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05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spread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on social media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9601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132588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rapidly across social media, creating widespread misinformation.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fact-checking is slow, manual, and cannot keep pace with the volume of content published every second.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ML-based detection is needed to flag misinformation at scale, in real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260604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99923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to automatically classify news articles as real or fake based on their text content.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651760"/>
            <a:ext cx="260604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65176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743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299923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preprocessing, TF-IDF vectorization, and four classification algorithms on a Kaggle dataset.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651760"/>
            <a:ext cx="260604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65176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743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99923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journalists, platforms, and readers identify misinformation quickly before it spreads further.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Norman, E. — Detecting Fake News Using Machine Learning. JSR Vol. 12, 2023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8869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Norman, E. "Detecting Fake News Using Machine Learning." Journal of Student Research, Vol. 12, Issue 1, 2023.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28346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261872"/>
            <a:ext cx="28346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2618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17190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 articles (21,417 real + 23,481 fake)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1945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Kaggle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6700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news: all from Reuters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14553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news: no identifiable 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261872"/>
            <a:ext cx="28346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261872"/>
            <a:ext cx="28346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2618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17190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tokenized → Count Vectorizer (top 1,000 words)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1945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models: Logistic Regression, SVM, Linear SVC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6700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lowercase, stop words removed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14553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'Reuters', apostrophes, dashes, quotes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261872"/>
            <a:ext cx="28346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261872"/>
            <a:ext cx="28346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2618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17190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SVC: 99.97% accuracy (best)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21945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SVM: 98.4% after punctuation fix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26700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all at 0.999 for Linear SVC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314553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≈ 1.0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553712"/>
            <a:ext cx="841248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553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Adaptation: We followed the same NLP pipeline but used TF-IDF vectorizer and tested four models — adding Naive Bayes and KNN.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kaggle.com/clmentbisaillon/fake-and-real-news-dataset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19202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601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16184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19202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9601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21,417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68880" y="16184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19202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9601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23,481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0" y="16184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960120"/>
            <a:ext cx="19202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9601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75120" y="16184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1945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Target Variable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542032"/>
            <a:ext cx="4206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78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63040" y="2578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article text — primary input feature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4206240" cy="34747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626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63040" y="29626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features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310128"/>
            <a:ext cx="4206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346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463040" y="33467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mutually exclusive between real/fake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694176"/>
            <a:ext cx="4206240" cy="34747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30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463040" y="3730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features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078224"/>
            <a:ext cx="4206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6304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Fake,  1 = Real  (target variable)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2194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42032"/>
            <a:ext cx="393192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applied before model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0584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05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005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417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Fake.csv and True.csv using Pandas. Added label column (0=Fake, 1=Real), concatenated, and shuffled.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0584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005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1005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 all text. Removed special characters using regex (\W), extra whitespace, and stop words.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00584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005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1005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Construction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1417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title + text into a single 'content' column. Dropped title, text, subject, date columns.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69748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69748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697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108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TF-IDF Vectorizer (stop_words='english', max_df=0.7) to convert text to numerical feature matrix.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269748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69748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697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0332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108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 with random_state=42 for reproducibility.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269748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69748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697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3108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clouds: top fake words — Trump, Obama, said. Top real words — said, State, would. Dataset is well-balanced.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Word Clouds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visualized from fake and real news training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868680"/>
            <a:ext cx="429768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Word Cloud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4297680" cy="2578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63440" y="868680"/>
            <a:ext cx="429768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 Word Cloud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297680" cy="23682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82880" y="3913632"/>
            <a:ext cx="87782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82880" y="391363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7472" y="393192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Insight: Fake news prominently features Trump, people, image — informal, sensationalist language. Real news features said, US, State, White House — more formal, institutional wording. Dataset is well-balanced at ~49% fake, ~51% real.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Implementation &amp; Mathematical Intuition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classification models evaluated | Best: Linear SVC (SVM)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4160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4160520" cy="32004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3075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P(y=1) = 1 / (1 + e^(−z))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β₀ + β₁x₁ + ··· + βₙxₙ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17830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linear combination of word features to a probability (0–1) using the sigmoid function. Classifies at threshold 0.5.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160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960120"/>
            <a:ext cx="4160520" cy="32004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13075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P(C|x) ∝ P(C) · ∏ P(xᵢ|C)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18888" y="17830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Bayes' theorem assuming word features are conditionally independent. Fast and effective for text classification.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4160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88920"/>
            <a:ext cx="4160520" cy="32004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" y="3136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= majority vote of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nearest training points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36118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an article by finding the k most similar articles in the training set (k=5). Similarity measured by distance in feature space.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788920"/>
            <a:ext cx="4160520" cy="1691640"/>
          </a:xfrm>
          <a:prstGeom prst="rect">
            <a:avLst/>
          </a:prstGeom>
          <a:solidFill>
            <a:srgbClr val="EFF6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788920"/>
            <a:ext cx="41605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3136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½‖w‖² + C·Σmax(0, 1−yᵢ(w·xᵢ))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margin = 2/‖w‖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18888" y="36118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hyperplane maximizing the margin between classes. Efficient and ideal for high-dimensional text feature spaces.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 — Decision Boundary Visualisation (PCA)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hyperplane plotted after reducing features to 2D via PCA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30352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914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SVM Separates Classes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0" y="1325880"/>
            <a:ext cx="30175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32588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8932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high-dimensional TF-IDF feature matrix is compressed to 2 principal components for visual inspection.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2176272"/>
            <a:ext cx="30175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2176272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2219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89320" y="2450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Fake News, Purple = Real News. The SVM finds the hyperplane (diagonal line) that best separates them.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3026664"/>
            <a:ext cx="30175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52160" y="3026664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307238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89320" y="33009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represents the learned decision boundary: articles on each side are classified as real or fake.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3877056"/>
            <a:ext cx="30175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52160" y="3877056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392277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Separation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89320" y="41513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visual separation confirms why SVC achieves ~99% accuracy on this dataset.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 &amp; Hyperparameter Tuning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across preprocessing configurations and parameter settings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298448"/>
            <a:ext cx="8503920" cy="374904"/>
          </a:xfrm>
          <a:prstGeom prst="rect">
            <a:avLst/>
          </a:prstGeom>
          <a:solidFill>
            <a:srgbClr val="1B2A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44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13441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1344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700784"/>
            <a:ext cx="8503920" cy="3749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465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max_df (TF-IDF)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17465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17465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terms in &gt;70% of documents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103120"/>
            <a:ext cx="85039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488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stop_words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2148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2148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common English stop words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505456"/>
            <a:ext cx="8503920" cy="3749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51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test_size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25511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25511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data reserved for testing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907792"/>
            <a:ext cx="85039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53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29535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2953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train/test split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310128"/>
            <a:ext cx="8503920" cy="3749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55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(Linear SVC)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17520" y="33558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(default)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33558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— default gave best results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712464"/>
            <a:ext cx="85039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818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(KNN)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17520" y="37581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0" y="37581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nearest neighbours used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160520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Finding: Default parameters performed best for Linear SVC. Varying the C value showed error was minimised at C=1 (default). Increasing C above 1.5 degraded performance. TF-IDF with max_df=0.7 effectively removed dataset-wide noise words.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Evaluation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on: Accuracy, Precision, Recall, F1-Score, Confusion Matrix, ROC Curve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Comparison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298448"/>
            <a:ext cx="4906301" cy="374904"/>
          </a:xfrm>
          <a:prstGeom prst="rect">
            <a:avLst/>
          </a:prstGeom>
          <a:solidFill>
            <a:srgbClr val="1B2A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44168"/>
            <a:ext cx="133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5940" y="1362120"/>
            <a:ext cx="7082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4658" y="1389552"/>
            <a:ext cx="708297" cy="164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0500" y="1362120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71283" y="1371600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700784"/>
            <a:ext cx="4906301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46504"/>
            <a:ext cx="133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5940" y="1764456"/>
            <a:ext cx="7082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14660" y="1764456"/>
            <a:ext cx="6516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20500" y="1764456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71283" y="1773936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103120"/>
            <a:ext cx="4906301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48840"/>
            <a:ext cx="133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25940" y="2166792"/>
            <a:ext cx="7082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14660" y="2166792"/>
            <a:ext cx="6516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0500" y="2166792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71283" y="2176272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505456"/>
            <a:ext cx="4906301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51176"/>
            <a:ext cx="133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25940" y="2569128"/>
            <a:ext cx="7082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~89%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14660" y="2569128"/>
            <a:ext cx="6516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20500" y="2569128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71283" y="2578608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2907792"/>
            <a:ext cx="4906301" cy="374904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53512"/>
            <a:ext cx="133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 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825940" y="2971464"/>
            <a:ext cx="7082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014660" y="2971464"/>
            <a:ext cx="6516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20500" y="2971464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71283" y="2980944"/>
            <a:ext cx="623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" y="336499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SVC Was Selected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0040" y="363931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(~99%) across all preprocessing configurations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0040" y="39319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and F1-score all near 1.0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22452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in high-dimensional text feature spaces — ideal for NLP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0040" y="451713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 (C=1) gave optimal results — no complex tuning needed</a:t>
            </a:r>
            <a:endParaRPr lang="en-US" sz="1050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229" y="829871"/>
            <a:ext cx="2515451" cy="209620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A239E0D-8FB7-00EF-FC34-2087C262E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473" y="2697417"/>
            <a:ext cx="2619209" cy="20940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 of Linear SVC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 selected as final model based on accuracy and generalization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8869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 was selected as the final model due to its superior performance across all evaluation metrics.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4160520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344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60520" cy="3657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344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1664208"/>
            <a:ext cx="416052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0992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194767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~99% accuracy — the best of all four models tested.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368296"/>
            <a:ext cx="416052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1401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 Dimensions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6517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text classification with thousands of word features.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72384"/>
            <a:ext cx="4160520" cy="6492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181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35584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computationally efficient than kernel SVMs for large text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76472"/>
            <a:ext cx="4160520" cy="649224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221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Generalization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5993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proper preprocessing, generalizes well beyond training data.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664208"/>
            <a:ext cx="4160520" cy="64922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0992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Bias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194767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real news came from Reuters — punctuation patterns skewed results on external articles.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368296"/>
            <a:ext cx="4160520" cy="64922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1401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6517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explain why a specific article was classified compared to simpler models.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072384"/>
            <a:ext cx="4160520" cy="64922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181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Limit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35584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one dataset may not generalize perfectly to diverse news sources.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776472"/>
            <a:ext cx="4160520" cy="64922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221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Analysis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405993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consider images, metadata, publishing source, or social sharing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160520" cy="1234440"/>
          </a:xfrm>
          <a:prstGeom prst="rect">
            <a:avLst/>
          </a:prstGeom>
          <a:solidFill>
            <a:srgbClr val="24355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 achieved ~99% accuracy — outperforming Logistic Regression, Naive Bayes, and KNN on the fake news dataset.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160520" cy="1234440"/>
          </a:xfrm>
          <a:prstGeom prst="rect">
            <a:avLst/>
          </a:prstGeom>
          <a:solidFill>
            <a:srgbClr val="24355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Key Feature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270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(top features, stop words removed) proved highly effective for distinguishing real from fake news.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4160520" cy="1234440"/>
          </a:xfrm>
          <a:prstGeom prst="rect">
            <a:avLst/>
          </a:prstGeom>
          <a:solidFill>
            <a:srgbClr val="24355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78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Critical Finding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8986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patterns (apostrophes, dashes) in real news caused dataset-specific bias — a real-world deployment risk.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487168"/>
            <a:ext cx="4160520" cy="1234440"/>
          </a:xfrm>
          <a:prstGeom prst="rect">
            <a:avLst/>
          </a:prstGeom>
          <a:solidFill>
            <a:srgbClr val="24355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578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Practical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8986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can effectively support journalists, platforms, and readers in real-time fake news identification.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0690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Expand training data to include multiple news sources (LIAR dataset), explore deep learning (BERT, LSTM), and incorporate metadata features for improved cross-dataset generalization.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09160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CES's Parvatibai Chowgule College of Arts and Science  |  Data Science (CA2DS)  |  TYBSc  |  2026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 Mini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4828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|  CA2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8503920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960120"/>
            <a:ext cx="64008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05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Research Paper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Norman, "Detecting Fake News Using Machine Learning," Journal of Student Research, vol. 12, no. 1, 2023. ISSN: 2167-1907. Available: www.JSR.org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09928"/>
            <a:ext cx="8503920" cy="66751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09928"/>
            <a:ext cx="64008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Dataset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Bisaillon, "Fake and Real News Dataset," Kaggle. Available: kaggle.com/clmentbisaillon/fake-and-real-news-dataset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59736"/>
            <a:ext cx="8503920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59736"/>
            <a:ext cx="64008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054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Related Work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761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Ahmed et al., "Detection of Online Fake News Using N-Gram Analysis and ML Techniques." University of Victoria, ISOT Lab.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09544"/>
            <a:ext cx="8503920" cy="66751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209544"/>
            <a:ext cx="64008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552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Related Work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5112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Aphiwongsophon &amp; P. Chongstitvatana, "Detecting Fake News with Machine Learning Method." Chulalongkorn University, 2018.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59352"/>
            <a:ext cx="8503920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959352"/>
            <a:ext cx="64008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MIT Study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2611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Dizikes, "Study: On Twitter, false news travels faster than true stories." MIT News, 8 Mar. 2018.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6177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Used: Python 3  |  Pandas  |  NumPy  |  Scikit-learn  |  Matplotlib  |  Seaborn  |  NLTK  |  WordCloud  |  Jupyter Notebook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1780</Words>
  <Application>Microsoft Office PowerPoint</Application>
  <PresentationFormat>On-screen Show (16:9)</PresentationFormat>
  <Paragraphs>244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Using Machine Learning</dc:title>
  <dc:subject>PptxGenJS Presentation</dc:subject>
  <dc:creator>PptxGenJS</dc:creator>
  <cp:lastModifiedBy>Atharv Kocharekar</cp:lastModifiedBy>
  <cp:revision>2</cp:revision>
  <dcterms:created xsi:type="dcterms:W3CDTF">2026-03-19T07:07:20Z</dcterms:created>
  <dcterms:modified xsi:type="dcterms:W3CDTF">2026-03-19T07:29:34Z</dcterms:modified>
</cp:coreProperties>
</file>